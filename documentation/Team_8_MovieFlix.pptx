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64" r:id="rId4"/>
    <p:sldId id="258" r:id="rId5"/>
    <p:sldId id="261" r:id="rId6"/>
    <p:sldId id="265" r:id="rId7"/>
    <p:sldId id="267" r:id="rId8"/>
    <p:sldId id="269" r:id="rId9"/>
    <p:sldId id="266" r:id="rId10"/>
    <p:sldId id="260" r:id="rId11"/>
    <p:sldId id="262" r:id="rId12"/>
    <p:sldId id="268"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p:scale>
          <a:sx n="66" d="100"/>
          <a:sy n="66" d="100"/>
        </p:scale>
        <p:origin x="1330" y="41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ITVIK REDDY" userId="55a096a59ac3aaa2" providerId="LiveId" clId="{FA8CB349-65A2-436C-8947-E749261761C1}"/>
    <pc:docChg chg="custSel addSld delSld modSld">
      <pc:chgData name="RITVIK REDDY" userId="55a096a59ac3aaa2" providerId="LiveId" clId="{FA8CB349-65A2-436C-8947-E749261761C1}" dt="2026-08-27T08:22:47.234" v="19" actId="2696"/>
      <pc:docMkLst>
        <pc:docMk/>
      </pc:docMkLst>
      <pc:sldChg chg="delSp modSp del mod modShow">
        <pc:chgData name="RITVIK REDDY" userId="55a096a59ac3aaa2" providerId="LiveId" clId="{FA8CB349-65A2-436C-8947-E749261761C1}" dt="2026-08-27T08:22:47.234" v="19" actId="2696"/>
        <pc:sldMkLst>
          <pc:docMk/>
          <pc:sldMk cId="0" sldId="259"/>
        </pc:sldMkLst>
        <pc:spChg chg="del mod">
          <ac:chgData name="RITVIK REDDY" userId="55a096a59ac3aaa2" providerId="LiveId" clId="{FA8CB349-65A2-436C-8947-E749261761C1}" dt="2026-08-27T08:22:26.648" v="17" actId="478"/>
          <ac:spMkLst>
            <pc:docMk/>
            <pc:sldMk cId="0" sldId="259"/>
            <ac:spMk id="4" creationId="{66FAC0C9-087B-D2B0-6FD8-4724B0F13C19}"/>
          </ac:spMkLst>
        </pc:spChg>
      </pc:sldChg>
      <pc:sldChg chg="addSp delSp modSp mod">
        <pc:chgData name="RITVIK REDDY" userId="55a096a59ac3aaa2" providerId="LiveId" clId="{FA8CB349-65A2-436C-8947-E749261761C1}" dt="2026-08-27T08:13:46.234" v="8" actId="14100"/>
        <pc:sldMkLst>
          <pc:docMk/>
          <pc:sldMk cId="106092222" sldId="267"/>
        </pc:sldMkLst>
        <pc:picChg chg="del">
          <ac:chgData name="RITVIK REDDY" userId="55a096a59ac3aaa2" providerId="LiveId" clId="{FA8CB349-65A2-436C-8947-E749261761C1}" dt="2026-08-27T08:08:45.607" v="0" actId="478"/>
          <ac:picMkLst>
            <pc:docMk/>
            <pc:sldMk cId="106092222" sldId="267"/>
            <ac:picMk id="5" creationId="{9F5AFEAF-832A-7DCB-6A87-77640B9A875A}"/>
          </ac:picMkLst>
        </pc:picChg>
        <pc:picChg chg="add mod">
          <ac:chgData name="RITVIK REDDY" userId="55a096a59ac3aaa2" providerId="LiveId" clId="{FA8CB349-65A2-436C-8947-E749261761C1}" dt="2026-08-27T08:13:00.265" v="4" actId="14100"/>
          <ac:picMkLst>
            <pc:docMk/>
            <pc:sldMk cId="106092222" sldId="267"/>
            <ac:picMk id="6" creationId="{FEB16BE6-9D38-989E-909D-F1D1EEBC6D1C}"/>
          </ac:picMkLst>
        </pc:picChg>
        <pc:picChg chg="add mod">
          <ac:chgData name="RITVIK REDDY" userId="55a096a59ac3aaa2" providerId="LiveId" clId="{FA8CB349-65A2-436C-8947-E749261761C1}" dt="2026-08-27T08:13:46.234" v="8" actId="14100"/>
          <ac:picMkLst>
            <pc:docMk/>
            <pc:sldMk cId="106092222" sldId="267"/>
            <ac:picMk id="8" creationId="{4BF11137-0910-599B-4B37-5F739C068199}"/>
          </ac:picMkLst>
        </pc:picChg>
      </pc:sldChg>
      <pc:sldChg chg="addSp delSp modSp add mod">
        <pc:chgData name="RITVIK REDDY" userId="55a096a59ac3aaa2" providerId="LiveId" clId="{FA8CB349-65A2-436C-8947-E749261761C1}" dt="2026-08-27T08:14:22.113" v="15" actId="1076"/>
        <pc:sldMkLst>
          <pc:docMk/>
          <pc:sldMk cId="121311672" sldId="269"/>
        </pc:sldMkLst>
        <pc:picChg chg="add mod">
          <ac:chgData name="RITVIK REDDY" userId="55a096a59ac3aaa2" providerId="LiveId" clId="{FA8CB349-65A2-436C-8947-E749261761C1}" dt="2026-08-27T08:14:22.113" v="15" actId="1076"/>
          <ac:picMkLst>
            <pc:docMk/>
            <pc:sldMk cId="121311672" sldId="269"/>
            <ac:picMk id="5" creationId="{82543785-71A2-383F-57E3-C05578AD003E}"/>
          </ac:picMkLst>
        </pc:picChg>
        <pc:picChg chg="del">
          <ac:chgData name="RITVIK REDDY" userId="55a096a59ac3aaa2" providerId="LiveId" clId="{FA8CB349-65A2-436C-8947-E749261761C1}" dt="2026-08-27T08:13:57.615" v="10" actId="478"/>
          <ac:picMkLst>
            <pc:docMk/>
            <pc:sldMk cId="121311672" sldId="269"/>
            <ac:picMk id="6" creationId="{C86F931E-44F3-51A0-0F9F-437D6F545C08}"/>
          </ac:picMkLst>
        </pc:picChg>
        <pc:picChg chg="del">
          <ac:chgData name="RITVIK REDDY" userId="55a096a59ac3aaa2" providerId="LiveId" clId="{FA8CB349-65A2-436C-8947-E749261761C1}" dt="2026-08-27T08:13:58.866" v="11" actId="478"/>
          <ac:picMkLst>
            <pc:docMk/>
            <pc:sldMk cId="121311672" sldId="269"/>
            <ac:picMk id="8" creationId="{8254BC32-5799-9F5A-A1FF-BE4DD563A3A4}"/>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8/27/2026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8/27/2026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8/27/2026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8/27/2026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8/27/2026</a:t>
            </a:fld>
            <a:endParaRPr lang="en-US"/>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8/27/2026</a:t>
            </a:fld>
            <a:endParaRPr lang="en-US"/>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8/27/2026</a:t>
            </a:fld>
            <a:endParaRPr lang="en-US"/>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8/27/2026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8/27/2026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8/27/2026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8/27/2026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2">
            <a:lumMod val="20000"/>
            <a:lumOff val="80000"/>
            <a:alpha val="10000"/>
          </a:schemeClr>
        </a:solidFill>
        <a:effectLst/>
      </p:bgPr>
    </p:bg>
    <p:spTree>
      <p:nvGrpSpPr>
        <p:cNvPr id="1" name=""/>
        <p:cNvGrpSpPr/>
        <p:nvPr/>
      </p:nvGrpSpPr>
      <p:grpSpPr>
        <a:xfrm>
          <a:off x="0" y="0"/>
          <a:ext cx="0" cy="0"/>
          <a:chOff x="0" y="0"/>
          <a:chExt cx="0" cy="0"/>
        </a:xfrm>
      </p:grpSpPr>
      <p:pic>
        <p:nvPicPr>
          <p:cNvPr id="7" name="Picture 11" descr="KL University Hyderabad"/>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0" y="44450"/>
            <a:ext cx="2101850" cy="900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p:nvPr userDrawn="1"/>
        </p:nvSpPr>
        <p:spPr>
          <a:xfrm>
            <a:off x="0" y="6811963"/>
            <a:ext cx="12192000" cy="46037"/>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Rectangle 8"/>
          <p:cNvSpPr/>
          <p:nvPr userDrawn="1"/>
        </p:nvSpPr>
        <p:spPr>
          <a:xfrm>
            <a:off x="0" y="0"/>
            <a:ext cx="12192000" cy="46038"/>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10" name="Picture 6" descr="Background pattern&#10;&#10;Description automatically generated"/>
          <p:cNvPicPr>
            <a:picLocks noChangeAspect="1" noChangeArrowheads="1"/>
          </p:cNvPicPr>
          <p:nvPr userDrawn="1"/>
        </p:nvPicPr>
        <p:blipFill>
          <a:blip r:embed="rId1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0" y="0"/>
            <a:ext cx="3003550" cy="300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github.com/ritvikreddybhavanam/KLH_CSE_2026-27_DSA-3_S8_8_MovieFlix"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38004" y="234673"/>
            <a:ext cx="9144000" cy="2316702"/>
          </a:xfrm>
        </p:spPr>
        <p:txBody>
          <a:bodyPr/>
          <a:lstStyle/>
          <a:p>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sz="4000" b="1" dirty="0">
                <a:solidFill>
                  <a:srgbClr val="C00000"/>
                </a:solidFill>
                <a:latin typeface="+mn-lt"/>
              </a:rPr>
            </a:br>
            <a:r>
              <a:rPr lang="en-US" sz="4000" b="1" dirty="0">
                <a:solidFill>
                  <a:srgbClr val="C00000"/>
                </a:solidFill>
                <a:latin typeface="+mn-lt"/>
              </a:rPr>
              <a:t>Data Structures and Algorithms -3 (25CS2103E)</a:t>
            </a:r>
            <a:br>
              <a:rPr lang="en-US" sz="4000" b="1" dirty="0">
                <a:solidFill>
                  <a:srgbClr val="C00000"/>
                </a:solidFill>
                <a:latin typeface="+mn-lt"/>
              </a:rPr>
            </a:br>
            <a:br>
              <a:rPr lang="en-US" sz="4000" b="1" dirty="0">
                <a:solidFill>
                  <a:srgbClr val="C00000"/>
                </a:solidFill>
                <a:latin typeface="+mn-lt"/>
              </a:rPr>
            </a:br>
            <a:r>
              <a:rPr lang="en-IN" sz="4000" b="1" u="sng" dirty="0">
                <a:solidFill>
                  <a:srgbClr val="C00000"/>
                </a:solidFill>
                <a:latin typeface="+mn-lt"/>
                <a:hlinkClick r:id="rId2">
                  <a:extLst>
                    <a:ext uri="{A12FA001-AC4F-418D-AE19-62706E023703}">
                      <ahyp:hlinkClr xmlns:ahyp="http://schemas.microsoft.com/office/drawing/2018/hyperlinkcolor" val="tx"/>
                    </a:ext>
                  </a:extLst>
                </a:hlinkClick>
              </a:rPr>
              <a:t>MovieFlix</a:t>
            </a:r>
            <a:endParaRPr lang="en-US" sz="4000" b="1" u="sng" dirty="0">
              <a:solidFill>
                <a:srgbClr val="C00000"/>
              </a:solidFill>
              <a:latin typeface="+mn-lt"/>
            </a:endParaRPr>
          </a:p>
        </p:txBody>
      </p:sp>
      <p:sp>
        <p:nvSpPr>
          <p:cNvPr id="3" name="Subtitle 2"/>
          <p:cNvSpPr>
            <a:spLocks noGrp="1"/>
          </p:cNvSpPr>
          <p:nvPr>
            <p:ph type="subTitle" idx="1"/>
          </p:nvPr>
        </p:nvSpPr>
        <p:spPr>
          <a:xfrm>
            <a:off x="4270160" y="2776404"/>
            <a:ext cx="4551284" cy="1599653"/>
          </a:xfrm>
        </p:spPr>
        <p:txBody>
          <a:bodyPr/>
          <a:lstStyle/>
          <a:p>
            <a:r>
              <a:rPr lang="en-US" dirty="0">
                <a:solidFill>
                  <a:srgbClr val="0070C0"/>
                </a:solidFill>
              </a:rPr>
              <a:t>Team Members</a:t>
            </a:r>
          </a:p>
          <a:p>
            <a:r>
              <a:rPr lang="en-US" dirty="0">
                <a:solidFill>
                  <a:srgbClr val="0070C0"/>
                </a:solidFill>
              </a:rPr>
              <a:t>M. Yeshwanth: 2520030525</a:t>
            </a:r>
          </a:p>
          <a:p>
            <a:r>
              <a:rPr lang="en-US" dirty="0">
                <a:solidFill>
                  <a:srgbClr val="0070C0"/>
                </a:solidFill>
              </a:rPr>
              <a:t>Varshith Raja : 2520030283</a:t>
            </a:r>
          </a:p>
          <a:p>
            <a:r>
              <a:rPr lang="en-US" dirty="0">
                <a:solidFill>
                  <a:srgbClr val="0070C0"/>
                </a:solidFill>
              </a:rPr>
              <a:t>Ritvik: 		2520030283</a:t>
            </a:r>
          </a:p>
          <a:p>
            <a:pPr marL="171450">
              <a:lnSpc>
                <a:spcPct val="107000"/>
              </a:lnSpc>
              <a:spcAft>
                <a:spcPts val="800"/>
              </a:spcAft>
            </a:pPr>
            <a:r>
              <a:rPr lang="en-US" sz="1800" kern="0" dirty="0">
                <a:solidFill>
                  <a:srgbClr val="000000"/>
                </a:solidFill>
                <a:latin typeface="Times New Roman" panose="02020603050405020304" pitchFamily="18" charset="0"/>
                <a:ea typeface="Times New Roman" panose="02020603050405020304" pitchFamily="18" charset="0"/>
                <a:cs typeface="Gautami" panose="020B0502040204020203" pitchFamily="34" charset="0"/>
              </a:rPr>
              <a:t>Under the Esteemed Guidance of</a:t>
            </a:r>
            <a:endParaRPr lang="en-IN" sz="1800" kern="100" dirty="0">
              <a:latin typeface="Calibri" panose="020F0502020204030204" pitchFamily="34" charset="0"/>
              <a:ea typeface="Calibri" panose="020F0502020204030204" pitchFamily="34" charset="0"/>
              <a:cs typeface="Gautami" panose="020B0502040204020203" pitchFamily="34" charset="0"/>
            </a:endParaRPr>
          </a:p>
          <a:p>
            <a:pPr>
              <a:lnSpc>
                <a:spcPct val="107000"/>
              </a:lnSpc>
              <a:spcAft>
                <a:spcPts val="800"/>
              </a:spcAft>
            </a:pPr>
            <a:r>
              <a:rPr lang="en-US" sz="1800" b="1" kern="0" dirty="0">
                <a:solidFill>
                  <a:srgbClr val="000000"/>
                </a:solidFill>
                <a:latin typeface="Times New Roman" panose="02020603050405020304" pitchFamily="18" charset="0"/>
                <a:ea typeface="Times New Roman" panose="02020603050405020304" pitchFamily="18" charset="0"/>
                <a:cs typeface="Gautami" panose="020B0502040204020203" pitchFamily="34" charset="0"/>
              </a:rPr>
              <a:t>Name of the DSA-3 faculty name with designation and department  </a:t>
            </a:r>
            <a:endParaRPr lang="en-IN" sz="1800" kern="100" dirty="0">
              <a:latin typeface="Calibri" panose="020F0502020204030204" pitchFamily="34" charset="0"/>
              <a:ea typeface="Calibri" panose="020F0502020204030204" pitchFamily="34" charset="0"/>
              <a:cs typeface="Gautami" panose="020B0502040204020203" pitchFamily="34" charset="0"/>
            </a:endParaRPr>
          </a:p>
          <a:p>
            <a:endParaRPr lang="en-US" sz="1800" dirty="0">
              <a:solidFill>
                <a:srgbClr val="0070C0"/>
              </a:solidFill>
            </a:endParaRPr>
          </a:p>
          <a:p>
            <a:pPr marL="171450" algn="ctr">
              <a:lnSpc>
                <a:spcPct val="107000"/>
              </a:lnSpc>
              <a:spcAft>
                <a:spcPts val="800"/>
              </a:spcAft>
            </a:pPr>
            <a:endParaRPr lang="en-US" sz="1800" kern="0" dirty="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endParaRPr>
          </a:p>
          <a:p>
            <a:endParaRPr lang="en-US" b="1" dirty="0">
              <a:solidFill>
                <a:srgbClr val="C0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1C70C049-38C4-198F-3181-AACE07DE24AE}"/>
              </a:ext>
            </a:extLst>
          </p:cNvPr>
          <p:cNvSpPr txBox="1"/>
          <p:nvPr/>
        </p:nvSpPr>
        <p:spPr>
          <a:xfrm>
            <a:off x="3736109" y="806448"/>
            <a:ext cx="6936386" cy="5835572"/>
          </a:xfrm>
          <a:prstGeom prst="rect">
            <a:avLst/>
          </a:prstGeom>
          <a:noFill/>
        </p:spPr>
        <p:txBody>
          <a:bodyPr wrap="none" rtlCol="0">
            <a:spAutoFit/>
          </a:bodyPr>
          <a:lstStyle/>
          <a:p>
            <a:pPr marL="457200" indent="-457200" algn="l" rtl="0" eaLnBrk="1" fontAlgn="t" latinLnBrk="0" hangingPunct="1">
              <a:lnSpc>
                <a:spcPct val="150000"/>
              </a:lnSpc>
              <a:spcBef>
                <a:spcPts val="0"/>
              </a:spcBef>
              <a:spcAft>
                <a:spcPts val="0"/>
              </a:spcAft>
              <a:buFont typeface="Arial" panose="020B0604020202020204" pitchFamily="34" charset="0"/>
              <a:buChar char="•"/>
            </a:pPr>
            <a:r>
              <a:rPr lang="en-US" sz="3200" b="0" i="0" u="none" strike="noStrike" kern="1200" dirty="0">
                <a:solidFill>
                  <a:srgbClr val="000000"/>
                </a:solidFill>
                <a:effectLst/>
                <a:latin typeface="Calibri" panose="020F0502020204030204" pitchFamily="34" charset="0"/>
              </a:rPr>
              <a:t>Abstract</a:t>
            </a:r>
          </a:p>
          <a:p>
            <a:pPr marL="457200" indent="-457200" algn="l" rtl="0" eaLnBrk="1" fontAlgn="t" latinLnBrk="0" hangingPunct="1">
              <a:lnSpc>
                <a:spcPct val="150000"/>
              </a:lnSpc>
              <a:spcBef>
                <a:spcPts val="0"/>
              </a:spcBef>
              <a:spcAft>
                <a:spcPts val="0"/>
              </a:spcAft>
              <a:buFont typeface="Arial" panose="020B0604020202020204" pitchFamily="34" charset="0"/>
              <a:buChar char="•"/>
            </a:pPr>
            <a:r>
              <a:rPr lang="en-US" sz="3200" b="0" i="0" u="none" strike="noStrike" kern="1200" dirty="0">
                <a:solidFill>
                  <a:srgbClr val="000000"/>
                </a:solidFill>
                <a:effectLst/>
                <a:latin typeface="Calibri" panose="020F0502020204030204" pitchFamily="34" charset="0"/>
              </a:rPr>
              <a:t>Introduction</a:t>
            </a:r>
            <a:endParaRPr lang="en-IN" sz="3200" b="0" i="0" u="none" strike="noStrike" dirty="0">
              <a:effectLst/>
              <a:latin typeface="Arial" panose="020B0604020202020204" pitchFamily="34" charset="0"/>
            </a:endParaRPr>
          </a:p>
          <a:p>
            <a:pPr marL="457200" indent="-457200" algn="l" rtl="0" eaLnBrk="1" fontAlgn="t" latinLnBrk="0" hangingPunct="1">
              <a:lnSpc>
                <a:spcPct val="150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Literature survey</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Problem Statement and Objectives</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Hardware and Software requirements</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Results</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Conclusion </a:t>
            </a: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Future Scope </a:t>
            </a:r>
            <a:endParaRPr lang="en-IN" sz="3200" b="0" i="0" u="none" strike="noStrike" dirty="0">
              <a:effectLst/>
              <a:latin typeface="Arial" panose="020B0604020202020204" pitchFamily="34" charset="0"/>
            </a:endParaRPr>
          </a:p>
          <a:p>
            <a:endParaRPr lang="en-IN" dirty="0"/>
          </a:p>
        </p:txBody>
      </p:sp>
      <p:sp>
        <p:nvSpPr>
          <p:cNvPr id="8" name="Rectangle: Rounded Corners 7">
            <a:extLst>
              <a:ext uri="{FF2B5EF4-FFF2-40B4-BE49-F238E27FC236}">
                <a16:creationId xmlns:a16="http://schemas.microsoft.com/office/drawing/2014/main" id="{3EAC2F32-24D5-FDE9-EB0F-31C7733C95E6}"/>
              </a:ext>
            </a:extLst>
          </p:cNvPr>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CCA499C0-FC38-6642-1E16-B8CFFC9C9314}"/>
              </a:ext>
            </a:extLst>
          </p:cNvPr>
          <p:cNvSpPr txBox="1"/>
          <p:nvPr/>
        </p:nvSpPr>
        <p:spPr>
          <a:xfrm>
            <a:off x="2660072" y="221673"/>
            <a:ext cx="6871855" cy="584775"/>
          </a:xfrm>
          <a:prstGeom prst="rect">
            <a:avLst/>
          </a:prstGeom>
          <a:noFill/>
        </p:spPr>
        <p:txBody>
          <a:bodyPr wrap="square" rtlCol="0">
            <a:spAutoFit/>
          </a:bodyPr>
          <a:lstStyle/>
          <a:p>
            <a:pPr algn="ctr"/>
            <a:r>
              <a:rPr lang="en-US" sz="3200" b="1" dirty="0">
                <a:solidFill>
                  <a:schemeClr val="bg1"/>
                </a:solidFill>
              </a:rPr>
              <a:t>Contents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2660072" y="221673"/>
            <a:ext cx="6871855" cy="584775"/>
          </a:xfrm>
          <a:prstGeom prst="rect">
            <a:avLst/>
          </a:prstGeom>
          <a:noFill/>
        </p:spPr>
        <p:txBody>
          <a:bodyPr wrap="square" rtlCol="0">
            <a:spAutoFit/>
          </a:bodyPr>
          <a:lstStyle/>
          <a:p>
            <a:pPr algn="ctr"/>
            <a:r>
              <a:rPr lang="en-US" sz="3200" b="1" dirty="0">
                <a:solidFill>
                  <a:schemeClr val="bg1"/>
                </a:solidFill>
              </a:rPr>
              <a:t>Abstract</a:t>
            </a:r>
          </a:p>
        </p:txBody>
      </p:sp>
      <p:sp>
        <p:nvSpPr>
          <p:cNvPr id="4" name="TextBox 3">
            <a:extLst>
              <a:ext uri="{FF2B5EF4-FFF2-40B4-BE49-F238E27FC236}">
                <a16:creationId xmlns:a16="http://schemas.microsoft.com/office/drawing/2014/main" id="{685DD2B4-DD9E-73A2-5CD3-C3A1DA4C15E5}"/>
              </a:ext>
            </a:extLst>
          </p:cNvPr>
          <p:cNvSpPr txBox="1"/>
          <p:nvPr/>
        </p:nvSpPr>
        <p:spPr>
          <a:xfrm>
            <a:off x="1377431" y="1003042"/>
            <a:ext cx="9437135" cy="5632311"/>
          </a:xfrm>
          <a:prstGeom prst="rect">
            <a:avLst/>
          </a:prstGeom>
          <a:noFill/>
        </p:spPr>
        <p:txBody>
          <a:bodyPr wrap="square" rtlCol="0">
            <a:spAutoFit/>
          </a:bodyPr>
          <a:lstStyle/>
          <a:p>
            <a:r>
              <a:rPr lang="en-IN" sz="2400" b="1" dirty="0"/>
              <a:t>MovieFlix</a:t>
            </a:r>
            <a:r>
              <a:rPr lang="en-IN" sz="2400" dirty="0"/>
              <a:t> is a movie search and discovery system developed to provide fast and efficient retrieval of movie information from a large dataset. The system uses the TMDB movie dataset and applies </a:t>
            </a:r>
            <a:r>
              <a:rPr lang="en-IN" sz="2400" b="1" dirty="0"/>
              <a:t>Data Structures and Algorithms</a:t>
            </a:r>
            <a:r>
              <a:rPr lang="en-IN" sz="2400" dirty="0"/>
              <a:t> to improve searching, sorting, filtering, and data retrieval. Movie records are organized using suitable data structures such as arrays, hash tables, and tries. String-matching algorithms such as </a:t>
            </a:r>
            <a:r>
              <a:rPr lang="en-IN" sz="2400" b="1" dirty="0"/>
              <a:t>KMP, Rabin-Karp, and Z-Function</a:t>
            </a:r>
            <a:r>
              <a:rPr lang="en-IN" sz="2400" dirty="0"/>
              <a:t> are used for efficient movie title and keyword searching, while </a:t>
            </a:r>
            <a:r>
              <a:rPr lang="en-IN" sz="2400" b="1" dirty="0"/>
              <a:t>Binary Search, Merge Sort, and Quick Sort</a:t>
            </a:r>
            <a:r>
              <a:rPr lang="en-IN" sz="2400" dirty="0"/>
              <a:t> support fast searching and organization of movie records. The system also supports prefix-based searching and efficient movie lookup. The performance of different algorithms can be compared using execution time and </a:t>
            </a:r>
            <a:r>
              <a:rPr lang="en-IN" sz="2400" b="1" dirty="0"/>
              <a:t>Big-O time and space complexity</a:t>
            </a:r>
            <a:r>
              <a:rPr lang="en-IN" sz="2400" dirty="0"/>
              <a:t>. The main objective of MovieFlix is to demonstrate the practical application of DSA concepts to a real-world movie search problem and improve the speed, accuracy, and efficiency of retrieving relevant movie information from a large dataset.</a:t>
            </a:r>
          </a:p>
        </p:txBody>
      </p:sp>
    </p:spTree>
    <p:extLst>
      <p:ext uri="{BB962C8B-B14F-4D97-AF65-F5344CB8AC3E}">
        <p14:creationId xmlns:p14="http://schemas.microsoft.com/office/powerpoint/2010/main" val="16724225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dirty="0">
                <a:solidFill>
                  <a:schemeClr val="bg1"/>
                </a:solidFill>
              </a:rPr>
              <a:t>Introduction</a:t>
            </a:r>
          </a:p>
        </p:txBody>
      </p:sp>
      <p:sp>
        <p:nvSpPr>
          <p:cNvPr id="4" name="TextBox 3">
            <a:extLst>
              <a:ext uri="{FF2B5EF4-FFF2-40B4-BE49-F238E27FC236}">
                <a16:creationId xmlns:a16="http://schemas.microsoft.com/office/drawing/2014/main" id="{60AA8C1B-8B80-DD04-A688-90E3727AA855}"/>
              </a:ext>
            </a:extLst>
          </p:cNvPr>
          <p:cNvSpPr txBox="1"/>
          <p:nvPr/>
        </p:nvSpPr>
        <p:spPr>
          <a:xfrm>
            <a:off x="3069771" y="1310780"/>
            <a:ext cx="8686800" cy="4832092"/>
          </a:xfrm>
          <a:prstGeom prst="rect">
            <a:avLst/>
          </a:prstGeom>
          <a:noFill/>
        </p:spPr>
        <p:txBody>
          <a:bodyPr wrap="square" rtlCol="0">
            <a:spAutoFit/>
          </a:bodyPr>
          <a:lstStyle/>
          <a:p>
            <a:r>
              <a:rPr lang="en-IN" sz="2800" dirty="0"/>
              <a:t>The system uses the </a:t>
            </a:r>
            <a:r>
              <a:rPr lang="en-IN" sz="2800" b="1" dirty="0"/>
              <a:t>TMDB movie dataset</a:t>
            </a:r>
            <a:r>
              <a:rPr lang="en-IN" sz="2800" dirty="0"/>
              <a:t>, where movie records are represented using a structured Movie model and loaded into the application for processing. Different searching techniques, including </a:t>
            </a:r>
            <a:r>
              <a:rPr lang="en-IN" sz="2800" b="1" dirty="0"/>
              <a:t>Linear Search, Binary Search, Naive String Matching, KMP, and Rabin-Karp</a:t>
            </a:r>
            <a:r>
              <a:rPr lang="en-IN" sz="2800" dirty="0"/>
              <a:t>, can be applied to movie titles, overviews, and keywords. Data structures such as </a:t>
            </a:r>
            <a:r>
              <a:rPr lang="en-IN" sz="2800" b="1" dirty="0"/>
              <a:t>Hash Tables and Tries</a:t>
            </a:r>
            <a:r>
              <a:rPr lang="en-IN" sz="2800" dirty="0"/>
              <a:t> can further improve lookup and prefix-based searching. Sorting algorithms such as </a:t>
            </a:r>
            <a:r>
              <a:rPr lang="en-IN" sz="2800" b="1" dirty="0"/>
              <a:t>Merge Sort and Quick Sort</a:t>
            </a:r>
            <a:r>
              <a:rPr lang="en-IN" sz="2800" dirty="0"/>
              <a:t> are used to organize movie records based on attributes such as title, rating, or release year.</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dirty="0">
                <a:solidFill>
                  <a:schemeClr val="bg1"/>
                </a:solidFill>
              </a:rPr>
              <a:t>Literature Survey</a:t>
            </a:r>
          </a:p>
        </p:txBody>
      </p:sp>
      <p:sp>
        <p:nvSpPr>
          <p:cNvPr id="4" name="TextBox 3">
            <a:extLst>
              <a:ext uri="{FF2B5EF4-FFF2-40B4-BE49-F238E27FC236}">
                <a16:creationId xmlns:a16="http://schemas.microsoft.com/office/drawing/2014/main" id="{D2B8C693-E939-1967-6A96-469826C54867}"/>
              </a:ext>
            </a:extLst>
          </p:cNvPr>
          <p:cNvSpPr txBox="1"/>
          <p:nvPr/>
        </p:nvSpPr>
        <p:spPr>
          <a:xfrm>
            <a:off x="3172409" y="1119868"/>
            <a:ext cx="8882742" cy="5262979"/>
          </a:xfrm>
          <a:prstGeom prst="rect">
            <a:avLst/>
          </a:prstGeom>
          <a:noFill/>
        </p:spPr>
        <p:txBody>
          <a:bodyPr wrap="square" rtlCol="0">
            <a:spAutoFit/>
          </a:bodyPr>
          <a:lstStyle/>
          <a:p>
            <a:r>
              <a:rPr lang="en-IN" sz="2400" dirty="0"/>
              <a:t>The development of movie search and discovery systems has been supported by various studies on </a:t>
            </a:r>
            <a:r>
              <a:rPr lang="en-IN" sz="2400" b="1" dirty="0"/>
              <a:t>data structures, searching algorithms, string matching, and information retrieval</a:t>
            </a:r>
            <a:r>
              <a:rPr lang="en-IN" sz="2400" dirty="0"/>
              <a:t>. Traditional searching techniques such as Linear Search are simple to implement but become inefficient as the size of the dataset increases. Binary Search improves search efficiency for sorted data, while hashing provides near-constant-time lookup for exact searches.</a:t>
            </a:r>
          </a:p>
          <a:p>
            <a:r>
              <a:rPr lang="en-IN" sz="2400" dirty="0"/>
              <a:t>For text-based searching, algorithms such as </a:t>
            </a:r>
            <a:r>
              <a:rPr lang="en-IN" sz="2400" b="1" dirty="0"/>
              <a:t>Naive String Matching, KMP, and Rabin-Karp</a:t>
            </a:r>
            <a:r>
              <a:rPr lang="en-IN" sz="2400" dirty="0"/>
              <a:t> have been widely studied for finding patterns efficiently within large text collections. In addition, </a:t>
            </a:r>
            <a:r>
              <a:rPr lang="en-IN" sz="2400" b="1" dirty="0"/>
              <a:t>Trie data structures</a:t>
            </a:r>
            <a:r>
              <a:rPr lang="en-IN" sz="2400" dirty="0"/>
              <a:t> are commonly used for prefix searching and autocomplete functionality. Sorting algorithms such as </a:t>
            </a:r>
            <a:r>
              <a:rPr lang="en-IN" sz="2400" b="1" dirty="0"/>
              <a:t>Merge Sort and Quick Sort</a:t>
            </a:r>
            <a:r>
              <a:rPr lang="en-IN" sz="2400" dirty="0"/>
              <a:t> are useful for organizing movie records based on attributes such as title, rating, popularity, or release year.</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2660072" y="221673"/>
            <a:ext cx="6723625" cy="65579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2660072" y="292694"/>
            <a:ext cx="6871855" cy="584775"/>
          </a:xfrm>
          <a:prstGeom prst="rect">
            <a:avLst/>
          </a:prstGeom>
          <a:noFill/>
        </p:spPr>
        <p:txBody>
          <a:bodyPr wrap="square" rtlCol="0">
            <a:spAutoFit/>
          </a:bodyPr>
          <a:lstStyle/>
          <a:p>
            <a:pPr algn="ctr"/>
            <a:r>
              <a:rPr lang="en-US" sz="3200" b="1" dirty="0">
                <a:solidFill>
                  <a:schemeClr val="bg1"/>
                </a:solidFill>
              </a:rPr>
              <a:t>Problem Statement and Objectives</a:t>
            </a:r>
          </a:p>
        </p:txBody>
      </p:sp>
      <p:sp>
        <p:nvSpPr>
          <p:cNvPr id="4" name="TextBox 3">
            <a:extLst>
              <a:ext uri="{FF2B5EF4-FFF2-40B4-BE49-F238E27FC236}">
                <a16:creationId xmlns:a16="http://schemas.microsoft.com/office/drawing/2014/main" id="{F4C5CF2E-5608-ED3E-76F7-B7971156FE64}"/>
              </a:ext>
            </a:extLst>
          </p:cNvPr>
          <p:cNvSpPr txBox="1"/>
          <p:nvPr/>
        </p:nvSpPr>
        <p:spPr>
          <a:xfrm>
            <a:off x="3013788" y="1153886"/>
            <a:ext cx="9036200" cy="5355312"/>
          </a:xfrm>
          <a:prstGeom prst="rect">
            <a:avLst/>
          </a:prstGeom>
          <a:noFill/>
        </p:spPr>
        <p:txBody>
          <a:bodyPr wrap="square" rtlCol="0">
            <a:spAutoFit/>
          </a:bodyPr>
          <a:lstStyle/>
          <a:p>
            <a:r>
              <a:rPr lang="en-IN" dirty="0"/>
              <a:t>The rapid growth of digital movie collections has made it difficult for users to quickly find relevant movies from large datasets. Searching thousands of movie records using basic techniques can be time-consuming and inefficient, especially when users want to search by title, keywords, genre, or other attributes. MovieFlix addresses this problem by developing an efficient movie search and retrieval system using </a:t>
            </a:r>
            <a:r>
              <a:rPr lang="en-IN" b="1" dirty="0"/>
              <a:t>Data Structures and Algorithms</a:t>
            </a:r>
            <a:r>
              <a:rPr lang="en-IN" dirty="0"/>
              <a:t>. The system aims to organize movie records effectively and apply suitable searching, sorting, pattern-matching, and data-retrieval techniques to improve search speed and accuracy</a:t>
            </a:r>
          </a:p>
          <a:p>
            <a:endParaRPr lang="en-IN" dirty="0"/>
          </a:p>
          <a:p>
            <a:r>
              <a:rPr lang="en-IN" dirty="0"/>
              <a:t>Objectives</a:t>
            </a:r>
          </a:p>
          <a:p>
            <a:pPr marL="342900" indent="-342900">
              <a:buAutoNum type="arabicPeriod"/>
            </a:pPr>
            <a:r>
              <a:rPr lang="en-IN" dirty="0"/>
              <a:t>To develop an efficient movie search system for retrieving relevant movies from a large dataset.</a:t>
            </a:r>
          </a:p>
          <a:p>
            <a:pPr marL="342900" indent="-342900">
              <a:buAutoNum type="arabicPeriod"/>
            </a:pPr>
            <a:r>
              <a:rPr lang="en-IN" dirty="0"/>
              <a:t>To implement searching algorithms such as Linear Search, Binary Search, KMP, Naive String Matching, and Rabin-Karp for different search requirements.</a:t>
            </a:r>
          </a:p>
          <a:p>
            <a:pPr marL="342900" indent="-342900">
              <a:buAutoNum type="arabicPeriod"/>
            </a:pPr>
            <a:r>
              <a:rPr lang="en-IN" dirty="0"/>
              <a:t>To use suitable data structures such as Vectors, Hash Tables, and Tries for efficient storage, lookup, and prefix searching.</a:t>
            </a:r>
          </a:p>
          <a:p>
            <a:pPr marL="342900" indent="-342900">
              <a:buAutoNum type="arabicPeriod"/>
            </a:pPr>
            <a:r>
              <a:rPr lang="en-IN" dirty="0"/>
              <a:t>To implement sorting algorithms such as Merge Sort and Quick Sort for organizing movie records</a:t>
            </a:r>
          </a:p>
          <a:p>
            <a:pPr marL="342900" indent="-342900">
              <a:buAutoNum type="arabicPeriod"/>
            </a:pPr>
            <a:r>
              <a:rPr lang="en-IN" dirty="0"/>
              <a:t>To compare algorithm performance using execution time and Big-O time and space complexity</a:t>
            </a:r>
          </a:p>
        </p:txBody>
      </p:sp>
    </p:spTree>
    <p:extLst>
      <p:ext uri="{BB962C8B-B14F-4D97-AF65-F5344CB8AC3E}">
        <p14:creationId xmlns:p14="http://schemas.microsoft.com/office/powerpoint/2010/main" val="34410266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kern="0" dirty="0">
                <a:solidFill>
                  <a:schemeClr val="bg1"/>
                </a:solidFill>
                <a:effectLst/>
                <a:ea typeface="Times New Roman" panose="02020603050405020304" pitchFamily="18" charset="0"/>
              </a:rPr>
              <a:t>Results</a:t>
            </a:r>
            <a:endParaRPr lang="en-US" sz="3200" b="1" dirty="0">
              <a:solidFill>
                <a:schemeClr val="bg1"/>
              </a:solidFill>
            </a:endParaRPr>
          </a:p>
        </p:txBody>
      </p:sp>
      <p:pic>
        <p:nvPicPr>
          <p:cNvPr id="6" name="Picture 5">
            <a:extLst>
              <a:ext uri="{FF2B5EF4-FFF2-40B4-BE49-F238E27FC236}">
                <a16:creationId xmlns:a16="http://schemas.microsoft.com/office/drawing/2014/main" id="{FEB16BE6-9D38-989E-909D-F1D1EEBC6D1C}"/>
              </a:ext>
            </a:extLst>
          </p:cNvPr>
          <p:cNvPicPr>
            <a:picLocks noChangeAspect="1"/>
          </p:cNvPicPr>
          <p:nvPr/>
        </p:nvPicPr>
        <p:blipFill>
          <a:blip r:embed="rId2"/>
          <a:stretch>
            <a:fillRect/>
          </a:stretch>
        </p:blipFill>
        <p:spPr>
          <a:xfrm>
            <a:off x="475863" y="1017093"/>
            <a:ext cx="4581330" cy="5420974"/>
          </a:xfrm>
          <a:prstGeom prst="rect">
            <a:avLst/>
          </a:prstGeom>
        </p:spPr>
      </p:pic>
      <p:pic>
        <p:nvPicPr>
          <p:cNvPr id="8" name="Picture 7">
            <a:extLst>
              <a:ext uri="{FF2B5EF4-FFF2-40B4-BE49-F238E27FC236}">
                <a16:creationId xmlns:a16="http://schemas.microsoft.com/office/drawing/2014/main" id="{4BF11137-0910-599B-4B37-5F739C068199}"/>
              </a:ext>
            </a:extLst>
          </p:cNvPr>
          <p:cNvPicPr>
            <a:picLocks noChangeAspect="1"/>
          </p:cNvPicPr>
          <p:nvPr/>
        </p:nvPicPr>
        <p:blipFill>
          <a:blip r:embed="rId3"/>
          <a:stretch>
            <a:fillRect/>
          </a:stretch>
        </p:blipFill>
        <p:spPr>
          <a:xfrm>
            <a:off x="5262466" y="1017093"/>
            <a:ext cx="4954555" cy="5420974"/>
          </a:xfrm>
          <a:prstGeom prst="rect">
            <a:avLst/>
          </a:prstGeom>
        </p:spPr>
      </p:pic>
    </p:spTree>
    <p:extLst>
      <p:ext uri="{BB962C8B-B14F-4D97-AF65-F5344CB8AC3E}">
        <p14:creationId xmlns:p14="http://schemas.microsoft.com/office/powerpoint/2010/main" val="1060922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ABBAB4-399D-88AA-BA97-BB52E1C4111E}"/>
            </a:ext>
          </a:extLst>
        </p:cNvPr>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D93AFA28-C841-DE36-C20F-F42715DD6F46}"/>
              </a:ext>
            </a:extLst>
          </p:cNvPr>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8138078E-0920-6BEC-9D72-BFCAB17324DA}"/>
              </a:ext>
            </a:extLst>
          </p:cNvPr>
          <p:cNvSpPr txBox="1"/>
          <p:nvPr/>
        </p:nvSpPr>
        <p:spPr>
          <a:xfrm>
            <a:off x="2660072" y="193965"/>
            <a:ext cx="6871855" cy="584775"/>
          </a:xfrm>
          <a:prstGeom prst="rect">
            <a:avLst/>
          </a:prstGeom>
          <a:noFill/>
        </p:spPr>
        <p:txBody>
          <a:bodyPr wrap="square" rtlCol="0">
            <a:spAutoFit/>
          </a:bodyPr>
          <a:lstStyle/>
          <a:p>
            <a:pPr algn="ctr"/>
            <a:r>
              <a:rPr lang="en-US" sz="3200" b="1" kern="0" dirty="0">
                <a:solidFill>
                  <a:schemeClr val="bg1"/>
                </a:solidFill>
                <a:effectLst/>
                <a:ea typeface="Times New Roman" panose="02020603050405020304" pitchFamily="18" charset="0"/>
              </a:rPr>
              <a:t>Results</a:t>
            </a:r>
            <a:endParaRPr lang="en-US" sz="3200" b="1" dirty="0">
              <a:solidFill>
                <a:schemeClr val="bg1"/>
              </a:solidFill>
            </a:endParaRPr>
          </a:p>
        </p:txBody>
      </p:sp>
      <p:pic>
        <p:nvPicPr>
          <p:cNvPr id="5" name="Picture 4">
            <a:extLst>
              <a:ext uri="{FF2B5EF4-FFF2-40B4-BE49-F238E27FC236}">
                <a16:creationId xmlns:a16="http://schemas.microsoft.com/office/drawing/2014/main" id="{82543785-71A2-383F-57E3-C05578AD003E}"/>
              </a:ext>
            </a:extLst>
          </p:cNvPr>
          <p:cNvPicPr>
            <a:picLocks noChangeAspect="1"/>
          </p:cNvPicPr>
          <p:nvPr/>
        </p:nvPicPr>
        <p:blipFill>
          <a:blip r:embed="rId2"/>
          <a:stretch>
            <a:fillRect/>
          </a:stretch>
        </p:blipFill>
        <p:spPr>
          <a:xfrm>
            <a:off x="923731" y="1009081"/>
            <a:ext cx="10161036" cy="5511641"/>
          </a:xfrm>
          <a:prstGeom prst="rect">
            <a:avLst/>
          </a:prstGeom>
        </p:spPr>
      </p:pic>
    </p:spTree>
    <p:extLst>
      <p:ext uri="{BB962C8B-B14F-4D97-AF65-F5344CB8AC3E}">
        <p14:creationId xmlns:p14="http://schemas.microsoft.com/office/powerpoint/2010/main" val="1213116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654372" y="262038"/>
            <a:ext cx="6419945" cy="60395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3547840" y="302403"/>
            <a:ext cx="6871855" cy="523220"/>
          </a:xfrm>
          <a:prstGeom prst="rect">
            <a:avLst/>
          </a:prstGeom>
          <a:noFill/>
        </p:spPr>
        <p:txBody>
          <a:bodyPr wrap="square" rtlCol="0">
            <a:spAutoFit/>
          </a:bodyPr>
          <a:lstStyle/>
          <a:p>
            <a:pPr algn="ctr"/>
            <a:r>
              <a:rPr lang="en-US" sz="2800" b="1" kern="0" dirty="0">
                <a:solidFill>
                  <a:schemeClr val="bg1"/>
                </a:solidFill>
                <a:effectLst/>
                <a:ea typeface="Times New Roman" panose="02020603050405020304" pitchFamily="18" charset="0"/>
              </a:rPr>
              <a:t>Hardware and Software requirements</a:t>
            </a:r>
            <a:endParaRPr lang="en-US" sz="2800" b="1" dirty="0">
              <a:solidFill>
                <a:schemeClr val="bg1"/>
              </a:solidFill>
            </a:endParaRPr>
          </a:p>
        </p:txBody>
      </p:sp>
      <p:graphicFrame>
        <p:nvGraphicFramePr>
          <p:cNvPr id="4" name="Table 3">
            <a:extLst>
              <a:ext uri="{FF2B5EF4-FFF2-40B4-BE49-F238E27FC236}">
                <a16:creationId xmlns:a16="http://schemas.microsoft.com/office/drawing/2014/main" id="{D77BFB9C-3002-3D60-C16B-40054E007690}"/>
              </a:ext>
            </a:extLst>
          </p:cNvPr>
          <p:cNvGraphicFramePr>
            <a:graphicFrameLocks noGrp="1"/>
          </p:cNvGraphicFramePr>
          <p:nvPr>
            <p:extLst>
              <p:ext uri="{D42A27DB-BD31-4B8C-83A1-F6EECF244321}">
                <p14:modId xmlns:p14="http://schemas.microsoft.com/office/powerpoint/2010/main" val="3809748268"/>
              </p:ext>
            </p:extLst>
          </p:nvPr>
        </p:nvGraphicFramePr>
        <p:xfrm>
          <a:off x="3346528" y="1142999"/>
          <a:ext cx="8397798" cy="5229226"/>
        </p:xfrm>
        <a:graphic>
          <a:graphicData uri="http://schemas.openxmlformats.org/drawingml/2006/table">
            <a:tbl>
              <a:tblPr>
                <a:tableStyleId>{5C22544A-7EE6-4342-B048-85BDC9FD1C3A}</a:tableStyleId>
              </a:tblPr>
              <a:tblGrid>
                <a:gridCol w="2799266">
                  <a:extLst>
                    <a:ext uri="{9D8B030D-6E8A-4147-A177-3AD203B41FA5}">
                      <a16:colId xmlns:a16="http://schemas.microsoft.com/office/drawing/2014/main" val="882861266"/>
                    </a:ext>
                  </a:extLst>
                </a:gridCol>
                <a:gridCol w="2799266">
                  <a:extLst>
                    <a:ext uri="{9D8B030D-6E8A-4147-A177-3AD203B41FA5}">
                      <a16:colId xmlns:a16="http://schemas.microsoft.com/office/drawing/2014/main" val="3017938966"/>
                    </a:ext>
                  </a:extLst>
                </a:gridCol>
                <a:gridCol w="2799266">
                  <a:extLst>
                    <a:ext uri="{9D8B030D-6E8A-4147-A177-3AD203B41FA5}">
                      <a16:colId xmlns:a16="http://schemas.microsoft.com/office/drawing/2014/main" val="1260098753"/>
                    </a:ext>
                  </a:extLst>
                </a:gridCol>
              </a:tblGrid>
              <a:tr h="229857">
                <a:tc>
                  <a:txBody>
                    <a:bodyPr/>
                    <a:lstStyle/>
                    <a:p>
                      <a:pPr>
                        <a:buNone/>
                      </a:pPr>
                      <a:r>
                        <a:rPr lang="en-IN" sz="900"/>
                        <a:t>Category</a:t>
                      </a:r>
                    </a:p>
                  </a:txBody>
                  <a:tcPr marL="47817" marR="47817" marT="23908" marB="23908" anchor="ctr"/>
                </a:tc>
                <a:tc>
                  <a:txBody>
                    <a:bodyPr/>
                    <a:lstStyle/>
                    <a:p>
                      <a:pPr>
                        <a:buNone/>
                      </a:pPr>
                      <a:r>
                        <a:rPr lang="en-IN" sz="900"/>
                        <a:t>Requirement</a:t>
                      </a:r>
                    </a:p>
                  </a:txBody>
                  <a:tcPr marL="47817" marR="47817" marT="23908" marB="23908" anchor="ctr"/>
                </a:tc>
                <a:tc>
                  <a:txBody>
                    <a:bodyPr/>
                    <a:lstStyle/>
                    <a:p>
                      <a:pPr>
                        <a:buNone/>
                      </a:pPr>
                      <a:r>
                        <a:rPr lang="en-IN" sz="900"/>
                        <a:t>Purpose</a:t>
                      </a:r>
                    </a:p>
                  </a:txBody>
                  <a:tcPr marL="47817" marR="47817" marT="23908" marB="23908" anchor="ctr"/>
                </a:tc>
                <a:extLst>
                  <a:ext uri="{0D108BD9-81ED-4DB2-BD59-A6C34878D82A}">
                    <a16:rowId xmlns:a16="http://schemas.microsoft.com/office/drawing/2014/main" val="1642563503"/>
                  </a:ext>
                </a:extLst>
              </a:tr>
              <a:tr h="402248">
                <a:tc>
                  <a:txBody>
                    <a:bodyPr/>
                    <a:lstStyle/>
                    <a:p>
                      <a:pPr>
                        <a:buNone/>
                      </a:pPr>
                      <a:r>
                        <a:rPr lang="en-IN" sz="900"/>
                        <a:t>Dataset</a:t>
                      </a:r>
                    </a:p>
                  </a:txBody>
                  <a:tcPr marL="47817" marR="47817" marT="23908" marB="23908" anchor="ctr"/>
                </a:tc>
                <a:tc>
                  <a:txBody>
                    <a:bodyPr/>
                    <a:lstStyle/>
                    <a:p>
                      <a:pPr>
                        <a:buNone/>
                      </a:pPr>
                      <a:r>
                        <a:rPr lang="en-IN" sz="900"/>
                        <a:t>TMDB 5000 Movie Dataset</a:t>
                      </a:r>
                    </a:p>
                  </a:txBody>
                  <a:tcPr marL="47817" marR="47817" marT="23908" marB="23908" anchor="ctr"/>
                </a:tc>
                <a:tc>
                  <a:txBody>
                    <a:bodyPr/>
                    <a:lstStyle/>
                    <a:p>
                      <a:pPr>
                        <a:buNone/>
                      </a:pPr>
                      <a:r>
                        <a:rPr lang="en-IN" sz="900"/>
                        <a:t>Provides movie records for applying and testing DSA algorithms</a:t>
                      </a:r>
                    </a:p>
                  </a:txBody>
                  <a:tcPr marL="47817" marR="47817" marT="23908" marB="23908" anchor="ctr"/>
                </a:tc>
                <a:extLst>
                  <a:ext uri="{0D108BD9-81ED-4DB2-BD59-A6C34878D82A}">
                    <a16:rowId xmlns:a16="http://schemas.microsoft.com/office/drawing/2014/main" val="2222611677"/>
                  </a:ext>
                </a:extLst>
              </a:tr>
              <a:tr h="229857">
                <a:tc>
                  <a:txBody>
                    <a:bodyPr/>
                    <a:lstStyle/>
                    <a:p>
                      <a:pPr>
                        <a:buNone/>
                      </a:pPr>
                      <a:r>
                        <a:rPr lang="en-IN" sz="900"/>
                        <a:t>Data Format</a:t>
                      </a:r>
                    </a:p>
                  </a:txBody>
                  <a:tcPr marL="47817" marR="47817" marT="23908" marB="23908" anchor="ctr"/>
                </a:tc>
                <a:tc>
                  <a:txBody>
                    <a:bodyPr/>
                    <a:lstStyle/>
                    <a:p>
                      <a:pPr>
                        <a:buNone/>
                      </a:pPr>
                      <a:r>
                        <a:rPr lang="en-IN" sz="900"/>
                        <a:t>JSON / CSV</a:t>
                      </a:r>
                    </a:p>
                  </a:txBody>
                  <a:tcPr marL="47817" marR="47817" marT="23908" marB="23908" anchor="ctr"/>
                </a:tc>
                <a:tc>
                  <a:txBody>
                    <a:bodyPr/>
                    <a:lstStyle/>
                    <a:p>
                      <a:pPr>
                        <a:buNone/>
                      </a:pPr>
                      <a:r>
                        <a:rPr lang="en-IN" sz="900"/>
                        <a:t>Stores movie dataset records</a:t>
                      </a:r>
                    </a:p>
                  </a:txBody>
                  <a:tcPr marL="47817" marR="47817" marT="23908" marB="23908" anchor="ctr"/>
                </a:tc>
                <a:extLst>
                  <a:ext uri="{0D108BD9-81ED-4DB2-BD59-A6C34878D82A}">
                    <a16:rowId xmlns:a16="http://schemas.microsoft.com/office/drawing/2014/main" val="871903209"/>
                  </a:ext>
                </a:extLst>
              </a:tr>
              <a:tr h="402248">
                <a:tc>
                  <a:txBody>
                    <a:bodyPr/>
                    <a:lstStyle/>
                    <a:p>
                      <a:pPr>
                        <a:buNone/>
                      </a:pPr>
                      <a:r>
                        <a:rPr lang="en-IN" sz="900"/>
                        <a:t>Java JSON Library</a:t>
                      </a:r>
                    </a:p>
                  </a:txBody>
                  <a:tcPr marL="47817" marR="47817" marT="23908" marB="23908" anchor="ctr"/>
                </a:tc>
                <a:tc>
                  <a:txBody>
                    <a:bodyPr/>
                    <a:lstStyle/>
                    <a:p>
                      <a:pPr>
                        <a:buNone/>
                      </a:pPr>
                      <a:r>
                        <a:rPr lang="en-IN" sz="900"/>
                        <a:t>Gson</a:t>
                      </a:r>
                    </a:p>
                  </a:txBody>
                  <a:tcPr marL="47817" marR="47817" marT="23908" marB="23908" anchor="ctr"/>
                </a:tc>
                <a:tc>
                  <a:txBody>
                    <a:bodyPr/>
                    <a:lstStyle/>
                    <a:p>
                      <a:pPr>
                        <a:buNone/>
                      </a:pPr>
                      <a:r>
                        <a:rPr lang="en-IN" sz="900"/>
                        <a:t>Parses and processes the TMDB JSON dataset</a:t>
                      </a:r>
                    </a:p>
                  </a:txBody>
                  <a:tcPr marL="47817" marR="47817" marT="23908" marB="23908" anchor="ctr"/>
                </a:tc>
                <a:extLst>
                  <a:ext uri="{0D108BD9-81ED-4DB2-BD59-A6C34878D82A}">
                    <a16:rowId xmlns:a16="http://schemas.microsoft.com/office/drawing/2014/main" val="3300990245"/>
                  </a:ext>
                </a:extLst>
              </a:tr>
              <a:tr h="402248">
                <a:tc>
                  <a:txBody>
                    <a:bodyPr/>
                    <a:lstStyle/>
                    <a:p>
                      <a:pPr>
                        <a:buNone/>
                      </a:pPr>
                      <a:r>
                        <a:rPr lang="en-IN" sz="900"/>
                        <a:t>Java I/O Libraries</a:t>
                      </a:r>
                    </a:p>
                  </a:txBody>
                  <a:tcPr marL="47817" marR="47817" marT="23908" marB="23908" anchor="ctr"/>
                </a:tc>
                <a:tc>
                  <a:txBody>
                    <a:bodyPr/>
                    <a:lstStyle/>
                    <a:p>
                      <a:pPr>
                        <a:buNone/>
                      </a:pPr>
                      <a:r>
                        <a:rPr lang="en-IN" sz="900"/>
                        <a:t>FileReader, BufferedReader</a:t>
                      </a:r>
                    </a:p>
                  </a:txBody>
                  <a:tcPr marL="47817" marR="47817" marT="23908" marB="23908" anchor="ctr"/>
                </a:tc>
                <a:tc>
                  <a:txBody>
                    <a:bodyPr/>
                    <a:lstStyle/>
                    <a:p>
                      <a:pPr>
                        <a:buNone/>
                      </a:pPr>
                      <a:r>
                        <a:rPr lang="en-IN" sz="900"/>
                        <a:t>Reads dataset files</a:t>
                      </a:r>
                    </a:p>
                  </a:txBody>
                  <a:tcPr marL="47817" marR="47817" marT="23908" marB="23908" anchor="ctr"/>
                </a:tc>
                <a:extLst>
                  <a:ext uri="{0D108BD9-81ED-4DB2-BD59-A6C34878D82A}">
                    <a16:rowId xmlns:a16="http://schemas.microsoft.com/office/drawing/2014/main" val="1414074122"/>
                  </a:ext>
                </a:extLst>
              </a:tr>
              <a:tr h="402248">
                <a:tc>
                  <a:txBody>
                    <a:bodyPr/>
                    <a:lstStyle/>
                    <a:p>
                      <a:pPr>
                        <a:buNone/>
                      </a:pPr>
                      <a:r>
                        <a:rPr lang="en-IN" sz="900"/>
                        <a:t>Data Structures</a:t>
                      </a:r>
                    </a:p>
                  </a:txBody>
                  <a:tcPr marL="47817" marR="47817" marT="23908" marB="23908" anchor="ctr"/>
                </a:tc>
                <a:tc>
                  <a:txBody>
                    <a:bodyPr/>
                    <a:lstStyle/>
                    <a:p>
                      <a:pPr>
                        <a:buNone/>
                      </a:pPr>
                      <a:r>
                        <a:rPr lang="en-IN" sz="900"/>
                        <a:t>Arrays, Lists, Hash Tables, Trie, Graphs</a:t>
                      </a:r>
                    </a:p>
                  </a:txBody>
                  <a:tcPr marL="47817" marR="47817" marT="23908" marB="23908" anchor="ctr"/>
                </a:tc>
                <a:tc>
                  <a:txBody>
                    <a:bodyPr/>
                    <a:lstStyle/>
                    <a:p>
                      <a:pPr>
                        <a:buNone/>
                      </a:pPr>
                      <a:r>
                        <a:rPr lang="en-IN" sz="900"/>
                        <a:t>Efficient storage, searching, indexing, and relationships</a:t>
                      </a:r>
                    </a:p>
                  </a:txBody>
                  <a:tcPr marL="47817" marR="47817" marT="23908" marB="23908" anchor="ctr"/>
                </a:tc>
                <a:extLst>
                  <a:ext uri="{0D108BD9-81ED-4DB2-BD59-A6C34878D82A}">
                    <a16:rowId xmlns:a16="http://schemas.microsoft.com/office/drawing/2014/main" val="4075820783"/>
                  </a:ext>
                </a:extLst>
              </a:tr>
              <a:tr h="574640">
                <a:tc>
                  <a:txBody>
                    <a:bodyPr/>
                    <a:lstStyle/>
                    <a:p>
                      <a:pPr>
                        <a:buNone/>
                      </a:pPr>
                      <a:r>
                        <a:rPr lang="en-IN" sz="900"/>
                        <a:t>String Algorithms</a:t>
                      </a:r>
                    </a:p>
                  </a:txBody>
                  <a:tcPr marL="47817" marR="47817" marT="23908" marB="23908" anchor="ctr"/>
                </a:tc>
                <a:tc>
                  <a:txBody>
                    <a:bodyPr/>
                    <a:lstStyle/>
                    <a:p>
                      <a:pPr>
                        <a:buNone/>
                      </a:pPr>
                      <a:r>
                        <a:rPr lang="en-IN" sz="900"/>
                        <a:t>Naive String Matching, KMP, Z-Function, Rabin-Karp, Aho-Corasick</a:t>
                      </a:r>
                    </a:p>
                  </a:txBody>
                  <a:tcPr marL="47817" marR="47817" marT="23908" marB="23908" anchor="ctr"/>
                </a:tc>
                <a:tc>
                  <a:txBody>
                    <a:bodyPr/>
                    <a:lstStyle/>
                    <a:p>
                      <a:pPr>
                        <a:buNone/>
                      </a:pPr>
                      <a:r>
                        <a:rPr lang="en-IN" sz="900"/>
                        <a:t>Pattern and substring searching in movie titles, overviews, and keywords</a:t>
                      </a:r>
                    </a:p>
                  </a:txBody>
                  <a:tcPr marL="47817" marR="47817" marT="23908" marB="23908" anchor="ctr"/>
                </a:tc>
                <a:extLst>
                  <a:ext uri="{0D108BD9-81ED-4DB2-BD59-A6C34878D82A}">
                    <a16:rowId xmlns:a16="http://schemas.microsoft.com/office/drawing/2014/main" val="2817636089"/>
                  </a:ext>
                </a:extLst>
              </a:tr>
              <a:tr h="402248">
                <a:tc>
                  <a:txBody>
                    <a:bodyPr/>
                    <a:lstStyle/>
                    <a:p>
                      <a:pPr>
                        <a:buNone/>
                      </a:pPr>
                      <a:r>
                        <a:rPr lang="en-IN" sz="900"/>
                        <a:t>Suffix Structures</a:t>
                      </a:r>
                    </a:p>
                  </a:txBody>
                  <a:tcPr marL="47817" marR="47817" marT="23908" marB="23908" anchor="ctr"/>
                </a:tc>
                <a:tc>
                  <a:txBody>
                    <a:bodyPr/>
                    <a:lstStyle/>
                    <a:p>
                      <a:pPr>
                        <a:buNone/>
                      </a:pPr>
                      <a:r>
                        <a:rPr lang="en-IN" sz="900"/>
                        <a:t>Suffix Array, LCP</a:t>
                      </a:r>
                    </a:p>
                  </a:txBody>
                  <a:tcPr marL="47817" marR="47817" marT="23908" marB="23908" anchor="ctr"/>
                </a:tc>
                <a:tc>
                  <a:txBody>
                    <a:bodyPr/>
                    <a:lstStyle/>
                    <a:p>
                      <a:pPr>
                        <a:buNone/>
                      </a:pPr>
                      <a:r>
                        <a:rPr lang="en-IN" sz="900"/>
                        <a:t>Advanced substring searching and similarity</a:t>
                      </a:r>
                    </a:p>
                  </a:txBody>
                  <a:tcPr marL="47817" marR="47817" marT="23908" marB="23908" anchor="ctr"/>
                </a:tc>
                <a:extLst>
                  <a:ext uri="{0D108BD9-81ED-4DB2-BD59-A6C34878D82A}">
                    <a16:rowId xmlns:a16="http://schemas.microsoft.com/office/drawing/2014/main" val="1217236206"/>
                  </a:ext>
                </a:extLst>
              </a:tr>
              <a:tr h="402248">
                <a:tc>
                  <a:txBody>
                    <a:bodyPr/>
                    <a:lstStyle/>
                    <a:p>
                      <a:pPr>
                        <a:buNone/>
                      </a:pPr>
                      <a:r>
                        <a:rPr lang="en-IN" sz="900"/>
                        <a:t>Dynamic Programming</a:t>
                      </a:r>
                    </a:p>
                  </a:txBody>
                  <a:tcPr marL="47817" marR="47817" marT="23908" marB="23908" anchor="ctr"/>
                </a:tc>
                <a:tc>
                  <a:txBody>
                    <a:bodyPr/>
                    <a:lstStyle/>
                    <a:p>
                      <a:pPr>
                        <a:buNone/>
                      </a:pPr>
                      <a:r>
                        <a:rPr lang="en-IN" sz="900"/>
                        <a:t>Edit Distance, Bitmask DP, Interval DP</a:t>
                      </a:r>
                    </a:p>
                  </a:txBody>
                  <a:tcPr marL="47817" marR="47817" marT="23908" marB="23908" anchor="ctr"/>
                </a:tc>
                <a:tc>
                  <a:txBody>
                    <a:bodyPr/>
                    <a:lstStyle/>
                    <a:p>
                      <a:pPr>
                        <a:buNone/>
                      </a:pPr>
                      <a:r>
                        <a:rPr lang="en-IN" sz="900"/>
                        <a:t>Fuzzy matching and movie-selection optimization</a:t>
                      </a:r>
                    </a:p>
                  </a:txBody>
                  <a:tcPr marL="47817" marR="47817" marT="23908" marB="23908" anchor="ctr"/>
                </a:tc>
                <a:extLst>
                  <a:ext uri="{0D108BD9-81ED-4DB2-BD59-A6C34878D82A}">
                    <a16:rowId xmlns:a16="http://schemas.microsoft.com/office/drawing/2014/main" val="4236885422"/>
                  </a:ext>
                </a:extLst>
              </a:tr>
              <a:tr h="402248">
                <a:tc>
                  <a:txBody>
                    <a:bodyPr/>
                    <a:lstStyle/>
                    <a:p>
                      <a:pPr>
                        <a:buNone/>
                      </a:pPr>
                      <a:r>
                        <a:rPr lang="en-IN" sz="900"/>
                        <a:t>Network Flow</a:t>
                      </a:r>
                    </a:p>
                  </a:txBody>
                  <a:tcPr marL="47817" marR="47817" marT="23908" marB="23908" anchor="ctr"/>
                </a:tc>
                <a:tc>
                  <a:txBody>
                    <a:bodyPr/>
                    <a:lstStyle/>
                    <a:p>
                      <a:pPr>
                        <a:buNone/>
                      </a:pPr>
                      <a:r>
                        <a:rPr lang="en-IN" sz="900"/>
                        <a:t>Ford-Fulkerson, Edmonds-Karp, Dinic, Min-Cut</a:t>
                      </a:r>
                    </a:p>
                  </a:txBody>
                  <a:tcPr marL="47817" marR="47817" marT="23908" marB="23908" anchor="ctr"/>
                </a:tc>
                <a:tc>
                  <a:txBody>
                    <a:bodyPr/>
                    <a:lstStyle/>
                    <a:p>
                      <a:pPr>
                        <a:buNone/>
                      </a:pPr>
                      <a:r>
                        <a:rPr lang="en-IN" sz="900"/>
                        <a:t>Matching, assignment, and relationship problems</a:t>
                      </a:r>
                    </a:p>
                  </a:txBody>
                  <a:tcPr marL="47817" marR="47817" marT="23908" marB="23908" anchor="ctr"/>
                </a:tc>
                <a:extLst>
                  <a:ext uri="{0D108BD9-81ED-4DB2-BD59-A6C34878D82A}">
                    <a16:rowId xmlns:a16="http://schemas.microsoft.com/office/drawing/2014/main" val="732615282"/>
                  </a:ext>
                </a:extLst>
              </a:tr>
              <a:tr h="574640">
                <a:tc>
                  <a:txBody>
                    <a:bodyPr/>
                    <a:lstStyle/>
                    <a:p>
                      <a:pPr>
                        <a:buNone/>
                      </a:pPr>
                      <a:r>
                        <a:rPr lang="en-IN" sz="900"/>
                        <a:t>Approximation Algorithms</a:t>
                      </a:r>
                    </a:p>
                  </a:txBody>
                  <a:tcPr marL="47817" marR="47817" marT="23908" marB="23908" anchor="ctr"/>
                </a:tc>
                <a:tc>
                  <a:txBody>
                    <a:bodyPr/>
                    <a:lstStyle/>
                    <a:p>
                      <a:pPr>
                        <a:buNone/>
                      </a:pPr>
                      <a:r>
                        <a:rPr lang="en-IN" sz="900"/>
                        <a:t>Vertex Cover and related approximation techniques</a:t>
                      </a:r>
                    </a:p>
                  </a:txBody>
                  <a:tcPr marL="47817" marR="47817" marT="23908" marB="23908" anchor="ctr"/>
                </a:tc>
                <a:tc>
                  <a:txBody>
                    <a:bodyPr/>
                    <a:lstStyle/>
                    <a:p>
                      <a:pPr>
                        <a:buNone/>
                      </a:pPr>
                      <a:r>
                        <a:rPr lang="en-IN" sz="900"/>
                        <a:t>Solving NP-hard movie-selection/optimization problems approximately</a:t>
                      </a:r>
                    </a:p>
                  </a:txBody>
                  <a:tcPr marL="47817" marR="47817" marT="23908" marB="23908" anchor="ctr"/>
                </a:tc>
                <a:extLst>
                  <a:ext uri="{0D108BD9-81ED-4DB2-BD59-A6C34878D82A}">
                    <a16:rowId xmlns:a16="http://schemas.microsoft.com/office/drawing/2014/main" val="2414387718"/>
                  </a:ext>
                </a:extLst>
              </a:tr>
              <a:tr h="402248">
                <a:tc>
                  <a:txBody>
                    <a:bodyPr/>
                    <a:lstStyle/>
                    <a:p>
                      <a:pPr>
                        <a:buNone/>
                      </a:pPr>
                      <a:r>
                        <a:rPr lang="en-IN" sz="900" dirty="0"/>
                        <a:t>Randomized Algorithms</a:t>
                      </a:r>
                    </a:p>
                  </a:txBody>
                  <a:tcPr marL="47817" marR="47817" marT="23908" marB="23908" anchor="ctr"/>
                </a:tc>
                <a:tc>
                  <a:txBody>
                    <a:bodyPr/>
                    <a:lstStyle/>
                    <a:p>
                      <a:pPr>
                        <a:buNone/>
                      </a:pPr>
                      <a:r>
                        <a:rPr lang="en-IN" sz="900"/>
                        <a:t>Miller-Rabin, Randomized Hashing</a:t>
                      </a:r>
                    </a:p>
                  </a:txBody>
                  <a:tcPr marL="47817" marR="47817" marT="23908" marB="23908" anchor="ctr"/>
                </a:tc>
                <a:tc>
                  <a:txBody>
                    <a:bodyPr/>
                    <a:lstStyle/>
                    <a:p>
                      <a:pPr>
                        <a:buNone/>
                      </a:pPr>
                      <a:r>
                        <a:rPr lang="en-IN" sz="900"/>
                        <a:t>Probabilistic searching/testing demonstrations</a:t>
                      </a:r>
                    </a:p>
                  </a:txBody>
                  <a:tcPr marL="47817" marR="47817" marT="23908" marB="23908" anchor="ctr"/>
                </a:tc>
                <a:extLst>
                  <a:ext uri="{0D108BD9-81ED-4DB2-BD59-A6C34878D82A}">
                    <a16:rowId xmlns:a16="http://schemas.microsoft.com/office/drawing/2014/main" val="2001946919"/>
                  </a:ext>
                </a:extLst>
              </a:tr>
              <a:tr h="402248">
                <a:tc>
                  <a:txBody>
                    <a:bodyPr/>
                    <a:lstStyle/>
                    <a:p>
                      <a:pPr>
                        <a:buNone/>
                      </a:pPr>
                      <a:r>
                        <a:rPr lang="en-IN" sz="900"/>
                        <a:t>Performance Analysis</a:t>
                      </a:r>
                    </a:p>
                  </a:txBody>
                  <a:tcPr marL="47817" marR="47817" marT="23908" marB="23908" anchor="ctr"/>
                </a:tc>
                <a:tc>
                  <a:txBody>
                    <a:bodyPr/>
                    <a:lstStyle/>
                    <a:p>
                      <a:pPr>
                        <a:buNone/>
                      </a:pPr>
                      <a:r>
                        <a:rPr lang="en-IN" sz="900"/>
                        <a:t>System.nanoTime()</a:t>
                      </a:r>
                    </a:p>
                  </a:txBody>
                  <a:tcPr marL="47817" marR="47817" marT="23908" marB="23908" anchor="ctr"/>
                </a:tc>
                <a:tc>
                  <a:txBody>
                    <a:bodyPr/>
                    <a:lstStyle/>
                    <a:p>
                      <a:pPr>
                        <a:buNone/>
                      </a:pPr>
                      <a:r>
                        <a:rPr lang="en-IN" sz="900" dirty="0"/>
                        <a:t>Comparing execution time of implemented algorithms</a:t>
                      </a:r>
                    </a:p>
                  </a:txBody>
                  <a:tcPr marL="47817" marR="47817" marT="23908" marB="23908" anchor="ctr"/>
                </a:tc>
                <a:extLst>
                  <a:ext uri="{0D108BD9-81ED-4DB2-BD59-A6C34878D82A}">
                    <a16:rowId xmlns:a16="http://schemas.microsoft.com/office/drawing/2014/main" val="795070240"/>
                  </a:ext>
                </a:extLst>
              </a:tr>
            </a:tbl>
          </a:graphicData>
        </a:graphic>
      </p:graphicFrame>
    </p:spTree>
    <p:extLst>
      <p:ext uri="{BB962C8B-B14F-4D97-AF65-F5344CB8AC3E}">
        <p14:creationId xmlns:p14="http://schemas.microsoft.com/office/powerpoint/2010/main" val="22927509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87903"/>
            <a:ext cx="6871855" cy="584775"/>
          </a:xfrm>
          <a:prstGeom prst="rect">
            <a:avLst/>
          </a:prstGeom>
          <a:noFill/>
        </p:spPr>
        <p:txBody>
          <a:bodyPr wrap="square" rtlCol="0">
            <a:spAutoFit/>
          </a:bodyPr>
          <a:lstStyle/>
          <a:p>
            <a:pPr algn="ctr"/>
            <a:r>
              <a:rPr lang="en-US" sz="3200" b="1" dirty="0">
                <a:solidFill>
                  <a:schemeClr val="bg1"/>
                </a:solidFill>
              </a:rPr>
              <a:t>Conclusion</a:t>
            </a:r>
          </a:p>
        </p:txBody>
      </p:sp>
      <p:sp>
        <p:nvSpPr>
          <p:cNvPr id="5" name="TextBox 4">
            <a:extLst>
              <a:ext uri="{FF2B5EF4-FFF2-40B4-BE49-F238E27FC236}">
                <a16:creationId xmlns:a16="http://schemas.microsoft.com/office/drawing/2014/main" id="{057A6820-C8E2-65BD-10A9-6AFCDE7C61F2}"/>
              </a:ext>
            </a:extLst>
          </p:cNvPr>
          <p:cNvSpPr txBox="1"/>
          <p:nvPr/>
        </p:nvSpPr>
        <p:spPr>
          <a:xfrm>
            <a:off x="3048000" y="923925"/>
            <a:ext cx="8724900" cy="5078313"/>
          </a:xfrm>
          <a:prstGeom prst="rect">
            <a:avLst/>
          </a:prstGeom>
          <a:noFill/>
        </p:spPr>
        <p:txBody>
          <a:bodyPr wrap="square" rtlCol="0">
            <a:spAutoFit/>
          </a:bodyPr>
          <a:lstStyle/>
          <a:p>
            <a:r>
              <a:rPr lang="en-IN" b="1" dirty="0"/>
              <a:t>MovieFlix</a:t>
            </a:r>
            <a:r>
              <a:rPr lang="en-IN" dirty="0"/>
              <a:t> demonstrates the practical application of Data Structures and Algorithms to solve the problem of efficiently searching and retrieving information from a large movie dataset. Using the </a:t>
            </a:r>
            <a:r>
              <a:rPr lang="en-IN" b="1" dirty="0"/>
              <a:t>TMDB 5000 Movie Dataset</a:t>
            </a:r>
            <a:r>
              <a:rPr lang="en-IN" dirty="0"/>
              <a:t>, the system applies suitable data structures and algorithms for movie searching, sorting, filtering, pattern matching, and data retrieval.</a:t>
            </a:r>
          </a:p>
          <a:p>
            <a:endParaRPr lang="en-IN" dirty="0"/>
          </a:p>
          <a:p>
            <a:endParaRPr lang="en-IN" dirty="0"/>
          </a:p>
          <a:p>
            <a:r>
              <a:rPr lang="en-IN" dirty="0"/>
              <a:t>Algorithms such as </a:t>
            </a:r>
            <a:r>
              <a:rPr lang="en-IN" b="1" dirty="0"/>
              <a:t>KMP, Rabin-Karp, Binary Search, and Hashing</a:t>
            </a:r>
            <a:r>
              <a:rPr lang="en-IN" dirty="0"/>
              <a:t> can improve search efficiency, while </a:t>
            </a:r>
            <a:r>
              <a:rPr lang="en-IN" b="1" dirty="0"/>
              <a:t>Trie</a:t>
            </a:r>
            <a:r>
              <a:rPr lang="en-IN" dirty="0"/>
              <a:t> supports prefix-based searching and auto-complete functionality. Sorting techniques such as </a:t>
            </a:r>
            <a:r>
              <a:rPr lang="en-IN" b="1" dirty="0"/>
              <a:t>Merge Sort and Quick Sort</a:t>
            </a:r>
            <a:r>
              <a:rPr lang="en-IN" dirty="0"/>
              <a:t> help organize movie records efficiently. The project also provides an opportunity to compare different algorithms based on execution time and </a:t>
            </a:r>
            <a:r>
              <a:rPr lang="en-IN" b="1" dirty="0"/>
              <a:t>Big-O time and space complexity</a:t>
            </a:r>
            <a:r>
              <a:rPr lang="en-IN" dirty="0"/>
              <a:t>.</a:t>
            </a:r>
          </a:p>
          <a:p>
            <a:endParaRPr lang="en-IN" dirty="0"/>
          </a:p>
          <a:p>
            <a:endParaRPr lang="en-IN" dirty="0"/>
          </a:p>
          <a:p>
            <a:r>
              <a:rPr lang="en-IN" dirty="0"/>
              <a:t>Overall, MovieFlix shows how advanced DSA concepts can be applied to a real-world movie search problem, reducing search time and improving the efficiency of movie information retrieval. It also provides a foundation for implementing more advanced concepts from the different course modules.</a:t>
            </a:r>
          </a:p>
          <a:p>
            <a:endParaRPr lang="en-IN"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2660072" y="154134"/>
            <a:ext cx="6871855" cy="584775"/>
          </a:xfrm>
          <a:prstGeom prst="rect">
            <a:avLst/>
          </a:prstGeom>
          <a:noFill/>
        </p:spPr>
        <p:txBody>
          <a:bodyPr wrap="square" rtlCol="0">
            <a:spAutoFit/>
          </a:bodyPr>
          <a:lstStyle/>
          <a:p>
            <a:pPr algn="ctr"/>
            <a:r>
              <a:rPr lang="en-US" sz="3200" b="1" dirty="0">
                <a:solidFill>
                  <a:schemeClr val="bg1"/>
                </a:solidFill>
              </a:rPr>
              <a:t> Future Scope</a:t>
            </a:r>
          </a:p>
        </p:txBody>
      </p:sp>
      <p:sp>
        <p:nvSpPr>
          <p:cNvPr id="5" name="TextBox 4">
            <a:extLst>
              <a:ext uri="{FF2B5EF4-FFF2-40B4-BE49-F238E27FC236}">
                <a16:creationId xmlns:a16="http://schemas.microsoft.com/office/drawing/2014/main" id="{9D7B82E6-A281-331A-8B30-ED68514E4A6A}"/>
              </a:ext>
            </a:extLst>
          </p:cNvPr>
          <p:cNvSpPr txBox="1"/>
          <p:nvPr/>
        </p:nvSpPr>
        <p:spPr>
          <a:xfrm>
            <a:off x="1274795" y="1180985"/>
            <a:ext cx="10631065" cy="4247317"/>
          </a:xfrm>
          <a:prstGeom prst="rect">
            <a:avLst/>
          </a:prstGeom>
          <a:noFill/>
        </p:spPr>
        <p:txBody>
          <a:bodyPr wrap="square">
            <a:spAutoFit/>
          </a:bodyPr>
          <a:lstStyle/>
          <a:p>
            <a:pPr marL="342900" lvl="0" indent="-342900">
              <a:buFont typeface="+mj-lt"/>
              <a:buAutoNum type="arabicPeriod"/>
            </a:pPr>
            <a:r>
              <a:rPr lang="en-IN" b="1" dirty="0"/>
              <a:t>Advanced Pattern Matching</a:t>
            </a:r>
            <a:br>
              <a:rPr lang="en-IN" dirty="0"/>
            </a:br>
            <a:r>
              <a:rPr lang="en-IN" dirty="0"/>
              <a:t>Implement additional algorithms such as </a:t>
            </a:r>
            <a:r>
              <a:rPr lang="en-IN" b="1" dirty="0"/>
              <a:t>Z-Function, Suffix Array, LCP, Suffix Automaton, and Aho-</a:t>
            </a:r>
            <a:r>
              <a:rPr lang="en-IN" b="1" dirty="0" err="1"/>
              <a:t>Corasick</a:t>
            </a:r>
            <a:r>
              <a:rPr lang="en-IN" dirty="0"/>
              <a:t> for more advanced movie title and keyword searching.</a:t>
            </a:r>
          </a:p>
          <a:p>
            <a:pPr marL="342900" lvl="0" indent="-342900">
              <a:buFont typeface="+mj-lt"/>
              <a:buAutoNum type="arabicPeriod"/>
            </a:pPr>
            <a:r>
              <a:rPr lang="en-IN" b="1" dirty="0"/>
              <a:t>Fuzzy Movie Search</a:t>
            </a:r>
            <a:br>
              <a:rPr lang="en-IN" dirty="0"/>
            </a:br>
            <a:r>
              <a:rPr lang="en-IN" dirty="0"/>
              <a:t>Use </a:t>
            </a:r>
            <a:r>
              <a:rPr lang="en-IN" b="1" dirty="0"/>
              <a:t>Edit Distance and Dynamic Programming</a:t>
            </a:r>
            <a:r>
              <a:rPr lang="en-IN" dirty="0"/>
              <a:t> to find movies even when the user enters an incomplete or misspelled title.</a:t>
            </a:r>
          </a:p>
          <a:p>
            <a:pPr marL="342900" lvl="0" indent="-342900">
              <a:buFont typeface="+mj-lt"/>
              <a:buAutoNum type="arabicPeriod"/>
            </a:pPr>
            <a:r>
              <a:rPr lang="en-IN" b="1" dirty="0"/>
              <a:t>Movie Recommendation</a:t>
            </a:r>
            <a:br>
              <a:rPr lang="en-IN" dirty="0"/>
            </a:br>
            <a:r>
              <a:rPr lang="en-IN" dirty="0"/>
              <a:t>Apply </a:t>
            </a:r>
            <a:r>
              <a:rPr lang="en-IN" b="1" dirty="0"/>
              <a:t>Dynamic Programming and Graph Algorithms</a:t>
            </a:r>
            <a:r>
              <a:rPr lang="en-IN" dirty="0"/>
              <a:t> to recommend movies based on genres, ratings, keywords, or actor–movie relationships.</a:t>
            </a:r>
          </a:p>
          <a:p>
            <a:pPr marL="342900" lvl="0" indent="-342900">
              <a:buFont typeface="+mj-lt"/>
              <a:buAutoNum type="arabicPeriod"/>
            </a:pPr>
            <a:r>
              <a:rPr lang="en-IN" b="1" dirty="0"/>
              <a:t>Graph-Based Relationships</a:t>
            </a:r>
            <a:br>
              <a:rPr lang="en-IN" dirty="0"/>
            </a:br>
            <a:r>
              <a:rPr lang="en-IN" dirty="0"/>
              <a:t>Build graphs representing relationships between movies, actors, and genres and apply graph algorithms for discovering related movies.</a:t>
            </a:r>
          </a:p>
          <a:p>
            <a:pPr marL="342900" lvl="0" indent="-342900">
              <a:buFont typeface="+mj-lt"/>
              <a:buAutoNum type="arabicPeriod"/>
            </a:pPr>
            <a:r>
              <a:rPr lang="en-IN" b="1" dirty="0"/>
              <a:t>Watchlist Optimization</a:t>
            </a:r>
            <a:br>
              <a:rPr lang="en-IN" dirty="0"/>
            </a:br>
            <a:r>
              <a:rPr lang="en-IN" dirty="0"/>
              <a:t>Use optimization and approximation techniques to generate suitable movie watchlists based on constraints such as available watching time, genre, and rating.</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7" y="2619376"/>
            <a:ext cx="4946253" cy="135782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Thank you</a:t>
            </a:r>
          </a:p>
        </p:txBody>
      </p:sp>
    </p:spTree>
    <p:extLst>
      <p:ext uri="{BB962C8B-B14F-4D97-AF65-F5344CB8AC3E}">
        <p14:creationId xmlns:p14="http://schemas.microsoft.com/office/powerpoint/2010/main" val="131354347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98</TotalTime>
  <Words>1164</Words>
  <Application>Microsoft Office PowerPoint</Application>
  <PresentationFormat>Widescreen</PresentationFormat>
  <Paragraphs>90</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Times New Roman</vt:lpstr>
      <vt:lpstr>Office Theme</vt:lpstr>
      <vt:lpstr>       Data Structures and Algorithms -3 (25CS2103E)  MovieFlix</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Sirisha Devi</dc:creator>
  <cp:lastModifiedBy>RITVIK REDDY</cp:lastModifiedBy>
  <cp:revision>21</cp:revision>
  <dcterms:created xsi:type="dcterms:W3CDTF">2024-08-29T05:25:00Z</dcterms:created>
  <dcterms:modified xsi:type="dcterms:W3CDTF">2026-08-27T08:22:54Z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FB2A1F042FC047C6B4D7E0BF0C20B2E9_13</vt:lpwstr>
  </property>
  <property fmtid="{D5CDD505-2E9C-101B-9397-08002B2CF9AE}" pid="3" name="KSOProductBuildVer">
    <vt:lpwstr>1033-12.2.0.23131</vt:lpwstr>
  </property>
</Properties>
</file>